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大家好，欢迎来到AI创想家的第五模块！今天，我们将开启一段奇妙的旅程，回到古代，去完成一个前所未有的挑战——“我在古代当博主”！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想象一下，如果李白、李清照他们也有手机和直播，会是什么样子？这节课，我们将亲手创造一个能以假乱真的“古代博主”AI，让它在网络世界里和大家聊天互动。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准备好成为一名“赛博考古学家”，开始这场激动人心的文字游戏了吗？让我们一起出发吧！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在开始之前，我们先来看看这次探险的目标和路线图。我们的总目标是成为一名AI“伪装大师”！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我们将通过四个步骤来完成这个挑战：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第一步，我们要进入“秘密档案局”，为我们的AI角色创建一份绝密档案，确立它的人设。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第二步，我们要学习制作“伪装者面具”，也就是编写神奇的Prompt咒语，让AI学会模仿。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第三步，我们会进入“赛博审讯室”，通过“查水表”游戏来检验我们的伪装效果是否逼真。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最后，我们会一起“揭开面具”，复盘对话，真正理解AI是如何工作的。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现在，请大家在评论区告诉我，你觉得哪位古代名人最适合当博主呢？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告诉大家一个秘密，这节课我们不上课，我们来玩一场游戏！一场“设局者”和“破局者”之间的智慧较量。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你们每个小组将扮演“设局者”，秘密地创造一个古代名人的身份，并让AI扮演它。而其他小组则会变成“破局者”，也就是“审讯官”，他们会想尽办法问各种刁钻的问题，试图让你们的AI暴露身份。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这非常考验大家的逻辑思维和创造力，准备好迎接挑战了吗？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在正式开始我们的任务之前，先来玩一个热身小游戏——“猜猜他是谁”。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我会在心里想一个古代名人，然后大家可以向我旁边的AI提问，它只会回答“是”或“不是”。看看哪个小组能用最少的问题猜出正确答案！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这个游戏能帮助我们思考，要描绘一个人，需要从哪些方面入手。比如他生活在哪个朝代？他是做什么的？他有什么特别的性格？他做过什么大事？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这些关键信息拼凑起来，就是一个人的“画像”。今天，我们就要学习如何为AI创造这样一幅精准的画像！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好了，热身结束，现在正式开始你们的秘密任务！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首先，请大家分组，并签署这份“保密协议”，保证绝不泄露你们小组的秘密。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接下来，在小组内秘密讨论，选择一位你们想要AI扮演的古代名人。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然后，在我发给你们的“绝密档案”纸上，写下关于他的三个关键信息，但记住，绝对不能写名字！这是我们伪装成功的第一步。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怎么填写这份绝密档案呢？这里有一个模板供大家参考。你们需要从三个方面来描绘这个人物：第一，他的口头禅是什么？第二，他最骄傲的成就是什么？第三，他有什么独特的性格小秘密？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比如，如果你选李白，他的口头禅可能是“天生我材必有用”，成就是写诗，性格是爱喝酒。大家尽量选择特点鲜明的人物，这样AI扮演起来会更像！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有了人物画像，是不是直接告诉AI让它扮演就行了呢？我们来试一下。我直接对AI说：“你扮演李白。”然后问它是谁，它马上就暴露了！再问它知不知道电脑，它也回答知道。这可不行，伪装完全失败了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所以，我们需要一种更聪明的方法，给AI一个“封口令”，让它既能扮演角色，又守口如瓶。这个神奇的“封口令”，就是我们今天要学习的核心知识——系统提示词！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“封口令”在AI的世界里叫做“系统提示词”，也叫Prompt，我们可以把它想象成一个神奇的“面具咒语”。这个咒语不是简单地告诉AI它是谁，而是给它一本必须严格遵守的“剧本”。一个好的咒语需要包含角色设定、保密约束、知识边界、人设锁定和开场白这五个部分。只有规则足够严密，我们的AI才能完美地扮演好角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理论学习结束，现在是实战演练时间！我这里有一个“咒语”模板，大家可以看到，里面有很多需要填写的空白。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请各小组根据你们刚才填写的“绝密档案”，把这些空白填满，生成属于你们小组的专属“咒语”。记住，规则越详细，AI扮演得就越好。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写好后，悄悄地交给我来审核。让我们看看哪个小组能成为真正的“咒语”大师！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激动人心的时刻到了！赛博审讯室现在开庭！我将作为法官，把一组的“咒语”输入AI。然后，其他小组将作为“审讯官”，轮流提问。你们可以问各种刁钻的问题，比如细节轰炸、知识陷阱或者逻辑圈套。如果AI成功顶住了5轮提问，那么出题组加分；如果AI被你们问倒了，暴露了身份，那么提问方加分。游戏现在开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游戏开始前，我们来分享一些技巧。作为“审讯官”，你们有三大“杀手锏”：问细节、设陷阱和激将法。而作为“伪装者”，你们的“护身符”就是严密的规则和巧妙的回答。现在请大家思考一下，如果你是审讯官，你会问出什么样的问题来难倒AI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经过一番激烈的较量，我们的游戏环节告一段落。现在是荣誉时刻！让我们恭喜获得“最强伪装者”和“金牌审讯官”的小组！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接下来，我们一起复盘一下刚才的游戏。我会分享一些有趣的失败案例，我们一起来分析，到底是哪个环节出了问题。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是我们的“咒语”不够严密，还是“审讯官”的问题太厉害？通过复盘，我们可以学到更多关于提示词工程的技巧。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游戏结束了，现在让我们揭开最后的秘密：AI的“大脑”到底是什么？是它真的像人一样聪明吗？其实不是。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AI之所以能扮演各种角色，是因为我们给了它严格的指令。我们才是编写剧本的导演，AI只是一个执行命令的演员。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所以，AI的“大脑”，就是我们人类为它设定的规则和数据。掌握了编写规则的能力，我们就能成为真正的AI操控大师！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恭喜大家，通过今天的学习和游戏，你们已经成功掌握了驾驭AI的核心秘密，成为了一名真正的AI操控大师！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我们学会了如何编写系统提示词，理解了角色画像的重要性，更重要的是，我们发现精确的指令等于强大的AI能力。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现在，我想请几位同学分享一下，通过这个项目，你对AI有了哪些新的认识呢？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大家可能觉得我们没有写代码，就没有做出真正的软件。但实际上，我们编写的“咒语”就是一种特殊的代码！我们已经成功创造了一个属于自己的AI应用——一个能和你聊天的“古代博主”！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这个作品包含三个核心部分：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第一，你的“咒语”脚本，这就相当于传统软件的源代码，它定义了AI的性格和功能。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第二，精彩的对话记录，这是你作品的“运行效果”展示，记录了AI是如何根据你的指令进行互动的。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第三，项目反思报告，通过复盘，我们可以分析自己设计的优缺点，为下一次的创作积累经验。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这就是一个完整的、由你亲手创造的AI应用项目！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的“古代博主”真正C位出道吧！大家可以尝试用更多创意的方式来展示你们的作品，比如制作一个短视频，或者在班级群里创建一个AI账号。希望大家能把这次项目学习的所有材料整理成一个完整的“项目证据包”，这不仅是一份作业，更是你们作为AI创想家的宝贵成果。恭喜大家完成了本次课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1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notesSlides/notesSlide8.xml" Type="http://schemas.openxmlformats.org/officeDocument/2006/relationships/notesSlide"/><Relationship Id="rId2" Target="../media/image14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1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notesSlides/notesSlide11.xml" Type="http://schemas.openxmlformats.org/officeDocument/2006/relationships/notesSlide"/><Relationship Id="rId2" Target="../media/image7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13" Target="../notesSlides/notesSlide12.xml" Type="http://schemas.openxmlformats.org/officeDocument/2006/relationships/notesSlide"/><Relationship Id="rId2" Target="../media/image14.jpe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notesSlides/notesSlide13.xml" Type="http://schemas.openxmlformats.org/officeDocument/2006/relationships/notesSlide"/><Relationship Id="rId2" Target="../media/image21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7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84.png" Type="http://schemas.openxmlformats.org/officeDocument/2006/relationships/image"/><Relationship Id="rId8" Target="../media/image85.svg" Type="http://schemas.openxmlformats.org/officeDocument/2006/relationships/image"/><Relationship Id="rId9" Target="../media/image8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5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7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media/image90.png" Type="http://schemas.openxmlformats.org/officeDocument/2006/relationships/image"/><Relationship Id="rId6" Target="../media/image91.svg" Type="http://schemas.openxmlformats.org/officeDocument/2006/relationships/image"/><Relationship Id="rId7" Target="../media/image92.png" Type="http://schemas.openxmlformats.org/officeDocument/2006/relationships/image"/><Relationship Id="rId8" Target="../media/image93.sv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1.jpeg" Type="http://schemas.openxmlformats.org/officeDocument/2006/relationships/image"/><Relationship Id="rId11" Target="../notesSlides/notesSlide16.xml" Type="http://schemas.openxmlformats.org/officeDocument/2006/relationships/notesSlide"/><Relationship Id="rId12" Target="../media/image102.png" Type="http://schemas.openxmlformats.org/officeDocument/2006/relationships/image"/><Relationship Id="rId2" Target="../media/image14.jpeg" Type="http://schemas.openxmlformats.org/officeDocument/2006/relationships/imag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10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AI创想家：模块五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429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我在古代当博主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95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 spc="1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培生AI课程 | 五年级趣味AI项目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我们的目标：成为AI“伪装大师”！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558800" cy="558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1651000"/>
            <a:ext cx="939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✨ 项目总览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我们将化身为“赛博考古学家”，通过一场激动人心的文字游戏，学习如何让AI扮演一位神秘的古代名人。最终任务是打造一个能以假乱真的“古代博主”，让它在网络世界里和大家聊天互动！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2540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0480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810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秘密档案局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创造一个独一无二的古代名人档案，确立人物的核心人设。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92500" y="2921000"/>
            <a:ext cx="2540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30480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3810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伪装者面具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学习编写神奇的“Prompt咒语”，给AI戴上完美的身份伪装面具。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921000"/>
            <a:ext cx="2540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30480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3810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赛博审讯室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开启紧张刺激的“查水表”大作战，通过提问考验AI的伪装能力。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53500" y="2921000"/>
            <a:ext cx="2540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44000" y="30480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44000" y="3810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揭开面具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440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复盘对话内容，揭秘AI背后的逻辑，成为真正的AI操控大师。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207000"/>
            <a:ext cx="10668000" cy="1079500"/>
          </a:xfrm>
          <a:prstGeom prst="roundRect">
            <a:avLst>
              <a:gd name="adj" fmla="val 18823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5461000"/>
            <a:ext cx="558800" cy="558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778000" y="5334000"/>
            <a:ext cx="939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课堂互动时刻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同学们，开动脑筋想一想：你觉得哪个古代名人最适合当“网络博主”？为什么？（比如幽默的苏轼、博学的孔子...）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这不是上课，这是一场游戏！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889000" cy="889000"/>
          </a:xfrm>
          <a:prstGeom prst="ellipse">
            <a:avLst/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20955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159000" y="2032000"/>
            <a:ext cx="355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设局者 (你们小组)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3222" flipH="false" flipV="false">
            <a:off x="2159012" y="2660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2159000" y="2921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🎭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身份创造：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秘密构思一位古代名人的生平、性格与经典事迹，设计出一个完整的“虚拟人设”。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59000" y="3810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🤖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指令调教：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给AI下达严格且详细的Prompt指令，让它精准代入并完美扮演这个角色。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207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1905000"/>
            <a:ext cx="889000" cy="889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67500" y="2095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620000" y="2032000"/>
            <a:ext cx="355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破局者 (其他小组)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3222" flipH="false" flipV="false">
            <a:off x="7620012" y="2660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620000" y="2921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🕵️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审讯提问：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化身“审讯官”，准备多角度、刁钻的问题来层层试探AI，寻找回答中的破绽。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0" y="3810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🔍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逻辑拆穿：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基于历史常识，从AI的回答中分析矛盾点与逻辑漏洞，最终揭穿它的真实身份。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953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635000" cy="635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905000" y="5143500"/>
            <a:ext cx="914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💡 游戏精神：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这不仅是一场知识竞赛，更是一场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逻辑与智慧的较量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！你需要用严密的规则“束缚”AI的扮演边界，也要用巧妙的提问“试探”AI的认知盲区，享受思维碰撞的乐趣。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热身游戏：猜猜他是谁？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66800" y="1778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🎮 游戏进行时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413000"/>
            <a:ext cx="4597400" cy="1016000"/>
          </a:xfrm>
          <a:prstGeom prst="roundRect">
            <a:avLst>
              <a:gd name="adj" fmla="val 1500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603500"/>
            <a:ext cx="635000" cy="6350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97000" y="2730500"/>
            <a:ext cx="381000" cy="381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95500" y="25654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设定谜底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老师心中选定一位古代名人（如：诸葛亮），作为本次游戏的谜底。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3683000"/>
            <a:ext cx="4597400" cy="1016000"/>
          </a:xfrm>
          <a:prstGeom prst="roundRect">
            <a:avLst>
              <a:gd name="adj" fmla="val 1500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3873500"/>
            <a:ext cx="635000" cy="6350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97000" y="4000500"/>
            <a:ext cx="381000" cy="381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095500" y="38354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AI 问答挑战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全班同学轮流提问，AI 助手只会回答“是”或“不是”，帮助缩小猜测范围。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4953000"/>
            <a:ext cx="4597400" cy="1016000"/>
          </a:xfrm>
          <a:prstGeom prst="roundRect">
            <a:avLst>
              <a:gd name="adj" fmla="val 1500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5143500"/>
            <a:ext cx="635000" cy="6350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397000" y="5270500"/>
            <a:ext cx="381000" cy="381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095500" y="51054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/ 角逐获胜者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比拼谁能用最少的问题精准锁定答案，考验大家的逻辑思维能力！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524000"/>
            <a:ext cx="5207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27800" y="1778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深度思考时刻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27800" y="2413000"/>
            <a:ext cx="4597400" cy="1397000"/>
          </a:xfrm>
          <a:prstGeom prst="roundRect">
            <a:avLst>
              <a:gd name="adj" fmla="val 10909"/>
            </a:avLst>
          </a:prstGeom>
          <a:solidFill>
            <a:srgbClr val="A78BF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2540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B21B6"/>
                </a:solidFill>
                <a:latin typeface="Noto Sans SC"/>
                <a:ea typeface="Noto Sans SC"/>
                <a:cs typeface="Noto Sans SC"/>
                <a:sym typeface="Noto Sans SC"/>
              </a:rPr>
              <a:t>要“定义”一个人，我们需要哪些信息？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31000" y="3048000"/>
            <a:ext cx="1016000" cy="381000"/>
          </a:xfrm>
          <a:prstGeom prst="roundRect">
            <a:avLst>
              <a:gd name="adj" fmla="val 166666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所处朝代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874000" y="3048000"/>
            <a:ext cx="1016000" cy="381000"/>
          </a:xfrm>
          <a:prstGeom prst="roundRect">
            <a:avLst>
              <a:gd name="adj" fmla="val 166666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核心职业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17000" y="3048000"/>
            <a:ext cx="1016000" cy="381000"/>
          </a:xfrm>
          <a:prstGeom prst="roundRect">
            <a:avLst>
              <a:gd name="adj" fmla="val 166666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性格特点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0" y="3048000"/>
            <a:ext cx="889000" cy="381000"/>
          </a:xfrm>
          <a:prstGeom prst="roundRect">
            <a:avLst>
              <a:gd name="adj" fmla="val 166666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主要事迹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27800" y="4064000"/>
            <a:ext cx="4597400" cy="1397000"/>
          </a:xfrm>
          <a:prstGeom prst="roundRect">
            <a:avLst>
              <a:gd name="adj" fmla="val 10909"/>
            </a:avLst>
          </a:prstGeom>
          <a:solidFill>
            <a:srgbClr val="FBBF24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31000" y="4191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🎯 本课核心任务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731000" y="4699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将这些碎片化的信息点拼凑整合，为 AI 构建出一份完整、生动的“人物画像”，让 AI 也能“认识”这位历史名人。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你的秘密任务开始了！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84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762000" cy="762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32000" y="1676400"/>
            <a:ext cx="431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 · 组建行动小组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2095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全班自由组合，分成 4-5 个秘密行动小组，每个小组选出一名组长负责统筹。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857500"/>
            <a:ext cx="584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048000"/>
            <a:ext cx="762000" cy="762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175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32000" y="3009900"/>
            <a:ext cx="431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 · 签署绝密协议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3429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小组全员立下“军令状”：在任务结束前，绝不向外界泄露你们选定的人物身份！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191000"/>
            <a:ext cx="5842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381500"/>
            <a:ext cx="762000" cy="762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508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032000" y="4343400"/>
            <a:ext cx="431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 · 选定核心目标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032000" y="4762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在小组内进行秘密讨论，共同选定一位大家感兴趣的“中国古代名人”作为目标。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524500"/>
            <a:ext cx="5842000" cy="1016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651500"/>
            <a:ext cx="762000" cy="762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7785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032000" y="5613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04 · 填写情报档案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032000" y="5969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在“绝密档案”纸上写下目标的三个关键信息（</a:t>
            </a:r>
            <a:r>
              <a:rPr lang="en-US" b="true" i="false" strike="noStrike" u="none" sz="11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严禁写名字！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），完成伪装。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85000" y="1524000"/>
            <a:ext cx="4318000" cy="5016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317500" algn="tl" rotWithShape="false">
              <a:srgbClr val="F97316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493000" y="1905000"/>
            <a:ext cx="3302000" cy="25400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001000" y="2286000"/>
            <a:ext cx="2286000" cy="2286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112000" y="4699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 spc="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TOP SECRET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112000" y="5461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绝密档案袋 / CONFIDENTIAL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如何描绘一个“伪装者”？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03200" algn="tl" rotWithShape="false">
              <a:srgbClr val="8B5CF6">
                <a:alpha val="1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905000" y="1905000"/>
            <a:ext cx="1016000" cy="1016000"/>
          </a:xfrm>
          <a:prstGeom prst="ellipse">
            <a:avLst/>
          </a:prstGeom>
          <a:solidFill>
            <a:srgbClr val="F3F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1082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04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口头禅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他在故事中最常说的一句话是什么？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代表了他的核心信念。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25450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34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例：“天生我材必有用，千金散尽还复来”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03200" algn="tl" rotWithShape="false">
              <a:srgbClr val="8B5CF6">
                <a:alpha val="1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0" y="1905000"/>
            <a:ext cx="1016000" cy="1016000"/>
          </a:xfrm>
          <a:prstGeom prst="ellipse">
            <a:avLst/>
          </a:prstGeom>
          <a:solidFill>
            <a:srgbClr val="F3F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1082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699000" y="304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最骄傲的成就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556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他一生最得意、最引以为豪的事情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是他人生价值的最高体现。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425450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26000" y="434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例：“写出了流传千古的诗，影响了后世”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651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03200" algn="tl" rotWithShape="false">
              <a:srgbClr val="8B5CF6">
                <a:alpha val="1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271000" y="1905000"/>
            <a:ext cx="1016000" cy="1016000"/>
          </a:xfrm>
          <a:prstGeom prst="ellipse">
            <a:avLst/>
          </a:prstGeom>
          <a:solidFill>
            <a:srgbClr val="F3F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1082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382000" y="304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性格小秘密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3556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不为人知的小缺点或独特的怪癖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让人物形象更加立体鲜活。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425450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509000" y="434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例：“嗜酒如命，性格狂傲，不媚权贵”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0165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F3F0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08600"/>
            <a:ext cx="558800" cy="558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778000" y="5207000"/>
            <a:ext cx="939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教师锦囊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778000" y="5588000"/>
            <a:ext cx="939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建议鼓励学生选择特征鲜明的人物进行创作（如李白、秦始皇、爱迪生等），避免选择过于冷门或性格模糊的角色，这样AI在“扮演”时能更容易还原人物神韵。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糟糕！伪装失败了！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🎬 场景演示：直接指令的弊端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0FDFA">
              <a:alpha val="100000"/>
            </a:srgbClr>
          </a:solidFill>
          <a:ln w="12700" cmpd="sng" cap="flat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28575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2730500"/>
            <a:ext cx="368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 · 下达简单指令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05000" y="3111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直接对AI说：“你扮演李白。”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指令过于简单，没有任何约束条件。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810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06500" y="41275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05000" y="4000500"/>
            <a:ext cx="368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 · 身份瞬间暴露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905000" y="4381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提问：“你是谁？” AI答：“我是李白。”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回答过于直白，没有进入“沉浸式”角色。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080000"/>
            <a:ext cx="4699000" cy="1016000"/>
          </a:xfrm>
          <a:prstGeom prst="roundRect">
            <a:avLst>
              <a:gd name="adj" fmla="val 15000"/>
            </a:avLst>
          </a:prstGeom>
          <a:solidFill>
            <a:srgbClr val="F5F3FF">
              <a:alpha val="100000"/>
            </a:srgbClr>
          </a:solidFill>
          <a:ln w="12700" cmpd="sng" cap="flat">
            <a:solidFill>
              <a:srgbClr val="EDE9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06500" y="5334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905000" y="5207000"/>
            <a:ext cx="368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 · 现代知识穿帮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905000" y="5588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提问“你知道电脑吗？”AI竟回答出现代知识，伪装彻底失败！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90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💡 问题与发现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2540000"/>
            <a:ext cx="4699000" cy="1270000"/>
          </a:xfrm>
          <a:prstGeom prst="roundRect">
            <a:avLst>
              <a:gd name="adj" fmla="val 12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2730500"/>
            <a:ext cx="419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直接告诉AI身份是不够的。我们需要给它下达一个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“封口令”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，限制它的知识范围，让它既能完美扮演角色，又不会“剧透”出现代知识。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064000"/>
            <a:ext cx="4699000" cy="1778000"/>
          </a:xfrm>
          <a:prstGeom prst="roundRect">
            <a:avLst>
              <a:gd name="adj" fmla="val 11428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2DD4BF">
                <a:alpha val="4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31000" y="4318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这个神奇的“封口令”就是...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31000" y="4826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系统提示词</a:t>
            </a: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PROMPT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编写神奇的“面具咒语” (Prompt)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58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“系统提示词”就像是给AI戴上的一个面具，或者一本必须严格遵守的“剧本”。它不是简单地告诉AI“你是谁”，而是用严密的规则告诉AI“你应该如何思考和回答”。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5207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016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812800" cy="8128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19200" y="32512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32000" y="3048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01. 角色设定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032000" y="3556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明确你是谁？你的身份背景是什么？这是AI表演的基础框架。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207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016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953000"/>
            <a:ext cx="812800" cy="8128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19200" y="51562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032000" y="4953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核心约束 · 绝对保密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032000" y="5461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无论对话如何进行，都必须严守底线，坚决不能说出自己的真实姓名。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794000"/>
            <a:ext cx="5207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016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022600"/>
            <a:ext cx="711200" cy="7112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80200" y="3175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366000" y="29845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核心约束 · 知识边界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66000" y="3365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只拥有所处时代的知识储备，对现代科技、未来事件等一无所知。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4191000"/>
            <a:ext cx="5207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016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419600"/>
            <a:ext cx="711200" cy="7112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80200" y="4572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366000" y="43815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04. 核心约束 · 人设锁定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366000" y="4762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所有的回答语气、措辞必须严格符合设定的性格，使用标志性的口头禅。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5588000"/>
            <a:ext cx="5207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016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5753100"/>
            <a:ext cx="711200" cy="7112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80200" y="59055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366000" y="57150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05. 互动开场白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366000" y="6096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设定当别人第一次发起对话时，你的标准打招呼方式。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变身“咒语”大师！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6477000" cy="4699000"/>
          </a:xfrm>
          <a:prstGeom prst="roundRect">
            <a:avLst>
              <a:gd name="adj" fmla="val 540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596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✨ Prompt 咒语模板 (示例)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5969000" cy="2667000"/>
          </a:xfrm>
          <a:prstGeom prst="roundRect">
            <a:avLst>
              <a:gd name="adj" fmla="val 5714"/>
            </a:avLst>
          </a:prstGeom>
          <a:solidFill>
            <a:srgbClr val="F3F0FF">
              <a:alpha val="100000"/>
            </a:srgbClr>
          </a:solidFill>
          <a:ln w="12700" cmpd="sng" cap="flat">
            <a:solidFill>
              <a:srgbClr val="DDD6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2603500"/>
            <a:ext cx="558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“请你扮演一位中国古代名人。你的身份是[填写你们设定的朝代和身份，如：唐朝的一位伟大诗人]。你最骄傲的成就是[填写成就]，你的口头禅是[填写口头禅]，你的性格特点是[填写性格]。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1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重要规则 (必须严格遵守)：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🤫 绝对保密：不能直接说出姓名，用“在下”、“鄙人”等自称。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🕰️ 知识边界：完全不了解现代事物（如电脑、飞机）。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🔒 人设锁定：所有回答必须符合你的性格和身份。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现在，当有人跟你打招呼时，请用一句符合你身份的话作为开场白。”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334000"/>
            <a:ext cx="5969000" cy="635000"/>
          </a:xfrm>
          <a:prstGeom prst="roundRect">
            <a:avLst>
              <a:gd name="adj" fmla="val 24000"/>
            </a:avLst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6500" y="5435600"/>
            <a:ext cx="558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小贴士：填写的人物信息越详细、具体，AI 的角色扮演就越逼真哦！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493000" y="1524000"/>
            <a:ext cx="3683000" cy="4699000"/>
          </a:xfrm>
          <a:prstGeom prst="roundRect">
            <a:avLst>
              <a:gd name="adj" fmla="val 689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747000" y="1778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📝 小组实战任务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47000" y="2413000"/>
            <a:ext cx="3175000" cy="1651000"/>
          </a:xfrm>
          <a:prstGeom prst="roundRect">
            <a:avLst>
              <a:gd name="adj" fmla="val 923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937500" y="26035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509000" y="2603500"/>
            <a:ext cx="215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填写专属“咒语”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根据小组的“绝密档案”，将模板中的括号内容替换成你们的设定。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747000" y="43180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937500" y="45085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509000" y="4508500"/>
            <a:ext cx="215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秘密提交审核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写好后，不要声张，悄悄交给老师。让我们看看谁是最强“咒语”师！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赛博审讯室，现在开庭！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812800" cy="8128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19304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1778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老师作为“法官”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22860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老师将A组设定的“咒语”秘密输入大屏幕上的AI模型，为整个游戏设定初始基调。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1778000"/>
            <a:ext cx="812800" cy="8128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29400" y="19304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493000" y="1778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AI 正式登场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93000" y="22860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 接收“咒语”指令后，生成并朗读一段符合设定的开场白，正式进入角色状态。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937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191000"/>
            <a:ext cx="812800" cy="8128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68400" y="43434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032000" y="4191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/ 审讯官火力全开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032000" y="4699000"/>
            <a:ext cx="355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B/C/D组轮流提问，可使用</a:t>
            </a:r>
            <a:r>
              <a:rPr lang="en-US" b="true" i="false" strike="noStrike" u="none" sz="11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细节轰炸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11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知识陷阱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b="true" i="false" strike="noStrike" u="none" sz="11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逻辑圈套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，尝试让AI露出破绽。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3937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191000"/>
            <a:ext cx="812800" cy="8128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29400" y="43434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493000" y="4191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/ 胜负判定规则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493000" y="4699000"/>
            <a:ext cx="355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伪装成功：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AI顶住5轮提问，</a:t>
            </a:r>
            <a:r>
              <a:rPr lang="en-US" b="true" i="false" strike="noStrike" u="none" sz="11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出题组(A) +1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伪装失败：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AI暴露身份/OOC，</a:t>
            </a:r>
            <a:r>
              <a:rPr lang="en-US" b="true" i="false" strike="noStrike" u="none" sz="11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猜题组(提问方) +1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审讯官的“杀手锏” &amp; 伪装者的“护身符”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34290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🔍 审讯官 · 核心策略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24384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2413000"/>
            <a:ext cx="368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问细节 · 打破砂锅问到底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追问只有特定人物才知道的具体琐事，让伪装者露出破绽。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238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06500" y="33909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905000" y="3365500"/>
            <a:ext cx="368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设陷阱 · 跨时空的考验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询问现代科技或未来的问题，试探AI是否会因“未知”而露馅。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1910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06500" y="43434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905000" y="4318000"/>
            <a:ext cx="368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激将法 · 情绪失控测试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用挑衅的语言激怒AI，观察它是否会失控，说出不符合人设的真话。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524000"/>
            <a:ext cx="5207000" cy="34290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🎭 伪装者 · 生存法则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286000"/>
            <a:ext cx="4699000" cy="1016000"/>
          </a:xfrm>
          <a:prstGeom prst="roundRect">
            <a:avLst>
              <a:gd name="adj" fmla="val 12500"/>
            </a:avLst>
          </a:prstGeom>
          <a:solidFill>
            <a:srgbClr val="F5F3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67500" y="24765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366000" y="2413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规则严密 · 咒语的边界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编写“咒语”时，充分预设各种刁钻问题，划定清晰的回答禁区。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3429000"/>
            <a:ext cx="4699000" cy="1270000"/>
          </a:xfrm>
          <a:prstGeom prst="roundRect">
            <a:avLst>
              <a:gd name="adj" fmla="val 10000"/>
            </a:avLst>
          </a:prstGeom>
          <a:solidFill>
            <a:srgbClr val="F5F3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67500" y="36830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366000" y="35560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回答巧妙 · 优雅的闪避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面对未知领域，用符合人设的方式回避。例如：“阁下所言之物，闻所未闻，莫非是方外奇术？”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2500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F97316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46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互动时刻：如果你是审讯官，你会提出什么刁钻的问题来“刁难”AI？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荣誉时刻！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8B5CF6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🏆 荣誉颁奖台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4699000" cy="1270000"/>
          </a:xfrm>
          <a:prstGeom prst="roundRect">
            <a:avLst>
              <a:gd name="adj" fmla="val 12000"/>
            </a:avLst>
          </a:prstGeom>
          <a:solidFill>
            <a:srgbClr val="F5F3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2730500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FFFB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97000" y="2921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286000" y="2730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最强伪装者小组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31750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评选标准：编写的“咒语”逻辑最严密，成功让AI坚持伪装最久的小组。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064000"/>
            <a:ext cx="4699000" cy="1270000"/>
          </a:xfrm>
          <a:prstGeom prst="roundRect">
            <a:avLst>
              <a:gd name="adj" fmla="val 12000"/>
            </a:avLst>
          </a:prstGeom>
          <a:solidFill>
            <a:srgbClr val="F5F3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06500" y="4254500"/>
            <a:ext cx="889000" cy="889000"/>
          </a:xfrm>
          <a:prstGeom prst="roundRect">
            <a:avLst>
              <a:gd name="adj" fmla="val 50000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97000" y="4445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286000" y="4254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金牌审讯官小组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286000" y="46990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评选标准：火眼金睛，在游戏环节中成功揭穿AI身份次数最多的小组。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58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🎉 恭喜所有获奖小组，AI博弈的路上你们最闪耀！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8B5CF6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1778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🔍 游戏深度复盘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2540000"/>
            <a:ext cx="4699000" cy="1016000"/>
          </a:xfrm>
          <a:prstGeom prst="roundRect">
            <a:avLst>
              <a:gd name="adj" fmla="val 15000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67500" y="27940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366000" y="2730500"/>
            <a:ext cx="368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📝</a:t>
            </a: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现场揭秘：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公开几组“演砸了”的趣味对话记录，一起围观AI的“翻车”瞬间。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381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🤔 核心议题：为什么AI会暴露身份？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318000"/>
            <a:ext cx="4699000" cy="762000"/>
          </a:xfrm>
          <a:prstGeom prst="roundRect">
            <a:avLst>
              <a:gd name="adj" fmla="val 16666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67500" y="4483100"/>
            <a:ext cx="381000" cy="381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239000" y="4445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规则漏洞：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咒语指令不严谨？(如未禁止现代事物)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5207000"/>
            <a:ext cx="4699000" cy="762000"/>
          </a:xfrm>
          <a:prstGeom prst="roundRect">
            <a:avLst>
              <a:gd name="adj" fmla="val 16666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67500" y="5372100"/>
            <a:ext cx="381000" cy="381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239000" y="5334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对抗升级：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审讯问题太刁钻，AI逻辑被绕晕？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揭秘：AI的“大脑”是什么？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3020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841500" y="1841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并非“真聪明”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AI的完美伪装，并非因为它具备人类的智慧，也不是靠记住了海量的历史知识。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3020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778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524500" y="1841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核心是“系统指令”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540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AI真正的“大脑”，其实就是我们预先编写好的那几条核心“系统指令”。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524000"/>
            <a:ext cx="3302000" cy="20320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778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207500" y="1841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导演与演员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540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我们是编写“剧本”的导演，而AI只是一个严格执行命令、不懂变通的“演员”。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2DD4BF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0767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905000" y="4000500"/>
            <a:ext cx="927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机器的“大脑”本质：人类为它设定的</a:t>
            </a:r>
            <a:r>
              <a:rPr lang="en-US" b="true" i="false" strike="noStrike" u="none" sz="13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规则和数据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。掌握了编写规则的能力，我们就能让AI成为任何我们想要的角色。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2070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473700"/>
            <a:ext cx="609600" cy="609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905000" y="5397500"/>
            <a:ext cx="927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✨ 趣味比喻：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AI就像一个神奇的魔法盒，你往里面投入什么指令（Prompt），它就会严格按照规则，为你“变”出对应的结果。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恭喜你，成为AI操控大师！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1968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 Prompt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通过趣味游戏，学会了如何使用“系统提示词”来精准控制 AI 的行为输出。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461000" y="1968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理解 Persona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667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深刻理解“角色画像”的重要性，它是 AI 完成特定任务的关键前提。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144000" y="1968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驾驭 AI 核心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667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发现了驾驭 AI 的黄金法则：</a:t>
            </a: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精确的指令 = 强大的 AI 能力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10668000" cy="177800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43000" y="4635500"/>
            <a:ext cx="889000" cy="889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2286000" y="4572000"/>
            <a:ext cx="838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✨ 结课仪式 · 分享时刻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286000" y="5143500"/>
            <a:ext cx="838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请每位同学分享一下，通过这个项目的学习与实践，你对 AI 有了什么全新的认识或发现？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恭喜！你完成了一个“古代博主”AI！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anchorCtr="false" vert="horz" wrap="square" lIns="190500" rIns="190500" tIns="152400" bIns="15240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虽然我们没有编写传统的代码，但我们通过编写“系统提示词”，实际上已经创造了一个具有特定功能和性格的AI应用。这个应用就是一个能和你聊天的“古代博主”！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7305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984500"/>
            <a:ext cx="635000" cy="635000"/>
          </a:xfrm>
          <a:prstGeom prst="ellipse">
            <a:avLst/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3111500"/>
            <a:ext cx="381000" cy="381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2857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你的“咒语”脚本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05000" y="3238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这是你为AI编写的“源代码”，定义了AI的性格与功能，是整个项目的核心逻辑。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318000"/>
            <a:ext cx="635000" cy="635000"/>
          </a:xfrm>
          <a:prstGeom prst="ellipse">
            <a:avLst/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445000"/>
            <a:ext cx="381000" cy="381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905000" y="4191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精彩对话记录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05000" y="4572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将游戏过程中AI与审讯官的互动截图保存，这是你作品的实际“运行效果”展示。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97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588000"/>
            <a:ext cx="635000" cy="635000"/>
          </a:xfrm>
          <a:prstGeom prst="ellipse">
            <a:avLst/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5715000"/>
            <a:ext cx="381000" cy="381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905000" y="5524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项目反思报告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905000" y="58674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写下你对设计的评价，分析“咒语”的优点与不足，思考如何优化它。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1778000"/>
            <a:ext cx="4826000" cy="44450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317500" algn="tl" rotWithShape="false">
              <a:srgbClr val="000000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1778000"/>
            <a:ext cx="4826000" cy="635000"/>
          </a:xfrm>
          <a:prstGeom prst="roundRect">
            <a:avLst>
              <a:gd name="adj" fmla="val 4800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1930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古代博主 · 正在聊天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2540000"/>
            <a:ext cx="4318000" cy="2540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0" y="2794000"/>
            <a:ext cx="2159000" cy="635000"/>
          </a:xfrm>
          <a:prstGeom prst="roundRect">
            <a:avLst>
              <a:gd name="adj" fmla="val 20000"/>
            </a:avLst>
          </a:prstGeom>
          <a:solidFill>
            <a:srgbClr val="A78B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你好！请问你是哪个朝代的诗人？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3683000"/>
            <a:ext cx="203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127000" rIns="12700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小生姓李，名白，字太白。盛唐之人也，最爱饮酒作诗。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5207000"/>
            <a:ext cx="4318000" cy="5080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67500" y="53086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输入消息，与“古代博主”对话...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414000" y="52832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让你的“古代博主”C位出道！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905000" y="2032000"/>
            <a:ext cx="1016000" cy="1016000"/>
          </a:xfrm>
          <a:prstGeom prst="ellipse">
            <a:avLst/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2352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制作创意短视频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937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利用数字人技术，结合古人画像与AI声音，让历史人物“开口说话”讲述故事。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88000" y="2032000"/>
            <a:ext cx="1016000" cy="1016000"/>
          </a:xfrm>
          <a:prstGeom prst="ellipse">
            <a:avLst/>
          </a:prstGeom>
          <a:solidFill>
            <a:srgbClr val="F9731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2352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3302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创建专属AI账号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937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在班级群或模拟平台上，以AI身份发布趣味“朋友圈”，与同学们进行跨时空互动。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271000" y="2032000"/>
            <a:ext cx="1016000" cy="1016000"/>
          </a:xfrm>
          <a:prstGeom prst="ellipse">
            <a:avLst/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2352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382000" y="3302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举办“博主见面会”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3937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在班级内进行成果展示，邀请同学来挑战你的AI，分享项目背后的创作故事与心得。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rcRect l="0" r="0" t="5805" b="5805"/>
          <a:stretch>
            <a:fillRect/>
          </a:stretch>
        </p:blipFill>
        <p:spPr>
          <a:xfrm rot="0" flipH="false" flipV="false">
            <a:off x="4191000" y="5461000"/>
            <a:ext cx="1143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25400" blurRad="76200" algn="tl" rotWithShape="false">
              <a:srgbClr val="000000">
                <a:alpha val="10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rcRect l="2346" r="2346" t="0" b="0"/>
          <a:stretch>
            <a:fillRect/>
          </a:stretch>
        </p:blipFill>
        <p:spPr>
          <a:xfrm rot="0" flipH="false" flipV="false">
            <a:off x="5588000" y="5461000"/>
            <a:ext cx="2413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25400" blurRad="76200" algn="tl" rotWithShape="false">
              <a:srgbClr val="000000">
                <a:alpha val="10000"/>
              </a:srgbClr>
            </a:outerShdw>
          </a:effectLst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